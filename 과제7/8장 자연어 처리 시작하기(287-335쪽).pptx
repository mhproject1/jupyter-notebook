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8" r:id="rId8"/>
    <p:sldId id="270" r:id="rId9"/>
    <p:sldId id="262" r:id="rId10"/>
    <p:sldId id="272" r:id="rId11"/>
    <p:sldId id="273" r:id="rId12"/>
    <p:sldId id="269" r:id="rId13"/>
    <p:sldId id="288" r:id="rId14"/>
    <p:sldId id="263" r:id="rId15"/>
    <p:sldId id="274" r:id="rId16"/>
    <p:sldId id="264" r:id="rId17"/>
    <p:sldId id="277" r:id="rId18"/>
    <p:sldId id="278" r:id="rId19"/>
    <p:sldId id="279" r:id="rId20"/>
    <p:sldId id="265" r:id="rId21"/>
    <p:sldId id="281" r:id="rId22"/>
    <p:sldId id="282" r:id="rId23"/>
    <p:sldId id="283" r:id="rId24"/>
    <p:sldId id="284" r:id="rId25"/>
    <p:sldId id="289" r:id="rId26"/>
    <p:sldId id="290" r:id="rId27"/>
    <p:sldId id="291" r:id="rId28"/>
    <p:sldId id="266" r:id="rId29"/>
    <p:sldId id="295" r:id="rId30"/>
    <p:sldId id="296" r:id="rId31"/>
    <p:sldId id="297" r:id="rId32"/>
    <p:sldId id="280" r:id="rId33"/>
    <p:sldId id="285" r:id="rId34"/>
    <p:sldId id="286" r:id="rId35"/>
    <p:sldId id="292" r:id="rId36"/>
    <p:sldId id="267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833DA-F8B1-471C-8F95-FF2C3B455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74CCC6-4087-42A4-9110-94C0035A6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246E68-61F5-4CF7-9FCE-A705493D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D71D50-73FD-475D-AEA0-9B656FC2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728FBF-AF6C-406C-A239-82D9025E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4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E84AB-DDC7-4689-876E-AC46DBC3F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98C761-BBAC-455A-A287-F47F92FDB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BC4F3D-3DDE-43A0-A62E-1A4C593B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32E330-B239-40D9-B501-E02FBADC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5662D-9749-4023-B591-BF9001F3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03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00281-D5BF-4374-A21F-FAC6D73B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0D5C26-F793-4C96-AB29-235C4CE49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0B531D-FCF0-4CB9-B50B-56EF82B9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EB7D0-3312-412B-A9E4-1004A8D9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0D58C3-D534-49EC-A94B-1EF1EA72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882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0200D-9B23-4DDB-A65A-23242042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5ED39-66EC-4600-98A8-2968535C2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342E27-BBF8-41A8-8CFE-743844E5B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744716-EF4F-4A82-9DF0-40F8B6B3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19E7A0-1067-4153-BC1A-5755ACE8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0AAA79-A875-4A26-A27C-6F99962A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101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2135-B28E-4FEA-AE94-352BC267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A42B04-FB87-487E-BDD9-2B472D09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AAB3C8-D3BF-40E6-8F55-BD60B472C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35282C-EB27-4DEE-A052-53D992B32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28F259-D39A-4114-B96A-55AA7BA15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FBB66A-B07A-443B-BC73-6C9F196C4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CA0840-9928-43B1-8FF0-78621ABA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127C07-70B3-4F96-A660-B4912062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255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B7858-8013-448E-B5DF-FC3D2F80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06E946-8A2A-48A4-9427-97A7436D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8009CF-9373-4630-8091-7E8C33FE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34DC18-CADA-48FE-9957-899BEE96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8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7FFEE4-4B02-45CC-ADE2-D40A3C93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45FE71-FEAF-4E18-9084-5700C87C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CF2AD-E2BD-471B-B3B1-9A2D529D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91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CDCD2-63DF-46D2-88D3-BE978A91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56A83E-F4BE-420E-A1E3-32E918B46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E59D69-DA1C-450E-99BC-50D708B98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990226-8F3E-4188-9B65-7A22031F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8E0B9E-9B80-4505-9179-C71EA05B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18DF3D-923E-426C-8CFA-F3C82FB0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46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B0F82-13F3-4D49-B680-E5087CAB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22DFCF-03FF-4EE4-9728-FDE4E8652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29209B-F61C-4544-904C-0E439B0CD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A8E7BE-4AA1-412A-A6EE-3D0633BC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4ECAEE-BEC0-46BE-A6B3-5004F5DC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6DAFB-C9B6-4751-9BC8-DDBEA4FA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41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959F2-43C1-4C09-AA85-43BC0FAF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588B73-7A59-430A-8F46-CC9A1BBB8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4B745-6796-4B1B-B8C4-20D89936D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F11691-8549-4D29-A60E-8D899EC5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541C6-7812-4738-81CA-FB7D5B29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40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C71E76-29D2-4892-8FCA-5D28BBFA2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EA511C-0FE7-4EF6-ABE0-78AD11CA4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BDCE6-BD77-45C6-92C3-569D4DED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82C17D-FA8C-49B2-9A06-A80E3106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FF373-0B7C-4AE8-B432-347EA4E3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8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0FE2C3-68A7-4989-AD6C-DDB81E77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51197B-32E2-4C08-9A33-C46C6E2F1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E9F9B-5C05-43CE-A0A3-95FD35854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35F00-06C9-4B68-8CBC-C391AE277FDD}" type="datetimeFigureOut">
              <a:rPr lang="ko-KR" altLang="en-US" smtClean="0"/>
              <a:t>2019-10-28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68FD3A-CE96-4F15-9DB3-16AA697C4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9A0DF-665A-41EE-90CA-C3174875A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7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AC6445-0CE9-46E7-8475-C5015D3ECEE8}"/>
              </a:ext>
            </a:extLst>
          </p:cNvPr>
          <p:cNvSpPr txBox="1"/>
          <p:nvPr/>
        </p:nvSpPr>
        <p:spPr>
          <a:xfrm>
            <a:off x="569136" y="2230296"/>
            <a:ext cx="496108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한글 자연어 처리 기초 </a:t>
            </a:r>
            <a:r>
              <a:rPr lang="en-US" altLang="ko-KR" sz="1400"/>
              <a:t>– KoNLPy </a:t>
            </a:r>
            <a:r>
              <a:rPr lang="ko-KR" altLang="en-US" sz="1400"/>
              <a:t>및 필요 모듈의 설치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한글 자연어 처리 기초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워드 클라우드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육아휴직 관련 법안에 대한 분석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Naive Bayes Classifier</a:t>
            </a:r>
            <a:r>
              <a:rPr lang="ko-KR" altLang="en-US" sz="1400"/>
              <a:t>의 이해 </a:t>
            </a:r>
            <a:r>
              <a:rPr lang="en-US" altLang="ko-KR" sz="1400"/>
              <a:t>- </a:t>
            </a:r>
            <a:r>
              <a:rPr lang="ko-KR" altLang="en-US" sz="1400"/>
              <a:t>영문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Naive Bayes Classifier</a:t>
            </a:r>
            <a:r>
              <a:rPr lang="ko-KR" altLang="en-US" sz="1400"/>
              <a:t>의 이해 </a:t>
            </a:r>
            <a:r>
              <a:rPr lang="en-US" altLang="ko-KR" sz="1400"/>
              <a:t>- </a:t>
            </a:r>
            <a:r>
              <a:rPr lang="ko-KR" altLang="en-US" sz="1400"/>
              <a:t>한글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문장의 유사도 측정하기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여자친구 선물 고르기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소감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2AFB3-2C5A-408A-822E-61536760E1AB}"/>
              </a:ext>
            </a:extLst>
          </p:cNvPr>
          <p:cNvSpPr txBox="1"/>
          <p:nvPr/>
        </p:nvSpPr>
        <p:spPr>
          <a:xfrm>
            <a:off x="2728732" y="872830"/>
            <a:ext cx="67345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8</a:t>
            </a:r>
            <a:r>
              <a:rPr lang="ko-KR" altLang="en-US" sz="4400"/>
              <a:t>장 자연어 처리 시작하기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2B8B2A-6B97-434F-B5EB-9E4E08AC6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220" y="2230296"/>
            <a:ext cx="638904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0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DA1532-E148-4E9E-A9F3-55B97A57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70743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6D9D4F7-0CCC-47C1-8941-4A412DB5DBC3}"/>
              </a:ext>
            </a:extLst>
          </p:cNvPr>
          <p:cNvSpPr/>
          <p:nvPr/>
        </p:nvSpPr>
        <p:spPr>
          <a:xfrm>
            <a:off x="8071104" y="3244334"/>
            <a:ext cx="3507627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KoNLPy </a:t>
            </a:r>
            <a:r>
              <a:rPr lang="ko-KR" altLang="en-US"/>
              <a:t>및 필요 모듈의 설치</a:t>
            </a:r>
          </a:p>
        </p:txBody>
      </p:sp>
    </p:spTree>
    <p:extLst>
      <p:ext uri="{BB962C8B-B14F-4D97-AF65-F5344CB8AC3E}">
        <p14:creationId xmlns:p14="http://schemas.microsoft.com/office/powerpoint/2010/main" val="273285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BFBC385-9954-43EC-BC40-EF5141DE6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3" y="2134552"/>
            <a:ext cx="4219575" cy="32289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894B69-83B1-4630-B8D9-D20B0D8E8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714" y="2134552"/>
            <a:ext cx="4381500" cy="355282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E66DE4D-FBE3-41CB-9866-8F785016F3C2}"/>
              </a:ext>
            </a:extLst>
          </p:cNvPr>
          <p:cNvSpPr/>
          <p:nvPr/>
        </p:nvSpPr>
        <p:spPr>
          <a:xfrm>
            <a:off x="4685538" y="983087"/>
            <a:ext cx="304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2. </a:t>
            </a:r>
            <a:r>
              <a:rPr lang="ko-KR" altLang="en-US"/>
              <a:t>한글 자연어 처리 기초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732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9C42101-62D0-4EEB-97E8-2A9EF77B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43" y="663131"/>
            <a:ext cx="5429249" cy="10732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6691C38-FAE4-4B81-A74C-4D51DF0A4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43" y="2294191"/>
            <a:ext cx="5429250" cy="30194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B967D7-507C-4C97-A365-37BD308F2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82" y="2294191"/>
            <a:ext cx="5324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89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4D69FAD-2FBC-410F-8F4B-54564B4BA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819150"/>
            <a:ext cx="634365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34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6C10AD-F4AF-47CD-8A35-06B1E9AEE865}"/>
              </a:ext>
            </a:extLst>
          </p:cNvPr>
          <p:cNvSpPr/>
          <p:nvPr/>
        </p:nvSpPr>
        <p:spPr>
          <a:xfrm>
            <a:off x="5076439" y="1023985"/>
            <a:ext cx="1911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3. </a:t>
            </a:r>
            <a:r>
              <a:rPr lang="ko-KR" altLang="en-US"/>
              <a:t>워드 클라우드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3545C6-0B14-457C-8F4C-9BC71693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40" y="1892808"/>
            <a:ext cx="5734050" cy="35718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8DC955B-615D-43EE-AF04-99003A957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012" y="1892808"/>
            <a:ext cx="53054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0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D7F4C1-DD7A-441D-9DC7-A86CFCFD1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9" y="181356"/>
            <a:ext cx="5734050" cy="4191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13AF69E-85F3-4300-B0BF-7C2896CE8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41" y="181356"/>
            <a:ext cx="5734050" cy="4457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A29AE0-3B94-4AEF-B935-BB5C2BF9A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741" y="3150679"/>
            <a:ext cx="57245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7D56781-8202-41F2-87CA-D7F98990E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16" y="1714500"/>
            <a:ext cx="5029200" cy="3429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9DE6C94-7D79-4764-AA6F-5EB436E12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186" y="800100"/>
            <a:ext cx="522922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8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10DE23-C17F-45F5-BBE1-AEB83173F332}"/>
              </a:ext>
            </a:extLst>
          </p:cNvPr>
          <p:cNvSpPr/>
          <p:nvPr/>
        </p:nvSpPr>
        <p:spPr>
          <a:xfrm>
            <a:off x="4209907" y="775454"/>
            <a:ext cx="3772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4. </a:t>
            </a:r>
            <a:r>
              <a:rPr lang="ko-KR" altLang="en-US"/>
              <a:t>육아휴직 관련 법안에 대한 분석</a:t>
            </a:r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E775A0-EF95-417D-AC37-6E1171FB2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24" y="1396246"/>
            <a:ext cx="4857750" cy="46863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E7CF35D-EDE9-472D-80AC-3DAF3CFCE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427" y="1396246"/>
            <a:ext cx="48958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5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CC3A4C1-3B62-4EFD-A9A2-8926E7E07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099" y="164592"/>
            <a:ext cx="8655801" cy="652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49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CBDD538-6EAE-4478-B66C-636945210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81" y="1373980"/>
            <a:ext cx="5665280" cy="41100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F3C5A5C-EF65-4E94-8EC0-AA1AAD262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296" y="1373980"/>
            <a:ext cx="5826823" cy="411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77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91DFE57-7140-4149-9302-B0FBCD6DE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22" y="352425"/>
            <a:ext cx="963930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02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33B0E43-F797-4CE6-AEC0-1DC671C7B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409575"/>
            <a:ext cx="5314950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95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D0FFCFA-DB97-4806-992C-201EA4C573A1}"/>
              </a:ext>
            </a:extLst>
          </p:cNvPr>
          <p:cNvSpPr/>
          <p:nvPr/>
        </p:nvSpPr>
        <p:spPr>
          <a:xfrm>
            <a:off x="3902313" y="812030"/>
            <a:ext cx="4191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5. Naive Bayes Classifier</a:t>
            </a:r>
            <a:r>
              <a:rPr lang="ko-KR" altLang="en-US"/>
              <a:t>의 이해 </a:t>
            </a:r>
            <a:r>
              <a:rPr lang="en-US" altLang="ko-KR"/>
              <a:t>- </a:t>
            </a:r>
            <a:r>
              <a:rPr lang="ko-KR" altLang="en-US"/>
              <a:t>영문</a:t>
            </a:r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AA862C-96BF-4642-AEAB-2B6839A2B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55" y="1469326"/>
            <a:ext cx="4533900" cy="45815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7A56E2E-9CC3-467A-A080-FC52658EB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746" y="1469326"/>
            <a:ext cx="53244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74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D3A4E1-4016-41EC-9C7D-6D2CD264C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975" y="681037"/>
            <a:ext cx="649605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24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650600A-C80E-4EB2-91F5-A16DEF43C683}"/>
              </a:ext>
            </a:extLst>
          </p:cNvPr>
          <p:cNvSpPr/>
          <p:nvPr/>
        </p:nvSpPr>
        <p:spPr>
          <a:xfrm>
            <a:off x="4008120" y="1087458"/>
            <a:ext cx="41757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6. Naive Bayes Classifier</a:t>
            </a:r>
            <a:r>
              <a:rPr lang="ko-KR" altLang="en-US"/>
              <a:t>의 이해 </a:t>
            </a:r>
            <a:r>
              <a:rPr lang="en-US" altLang="ko-KR"/>
              <a:t>- </a:t>
            </a:r>
            <a:r>
              <a:rPr lang="ko-KR" altLang="en-US"/>
              <a:t>한글</a:t>
            </a:r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DA49481-4C52-47B7-BDB5-96D4CF541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67" y="2119312"/>
            <a:ext cx="4676775" cy="26193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4FAC37-0669-4C48-B642-2351A212E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60" y="2119312"/>
            <a:ext cx="44862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5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835AF10-566B-4C3C-A3C4-6E670A24F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59" y="322326"/>
            <a:ext cx="5463261" cy="62133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DCE402B-ADCD-4BB3-B983-703A3FFFF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2326"/>
            <a:ext cx="5717058" cy="399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92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EA61181-08E1-4502-A0F8-028DE1F9B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423862"/>
            <a:ext cx="6343650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84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589DE1D-46FE-4966-ADAB-DEB72517C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01" y="76200"/>
            <a:ext cx="4705350" cy="6705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92D456B-7E55-4E74-AF0F-BC1CBE0A0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251" y="76200"/>
            <a:ext cx="5191648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92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869F84-7750-494D-BADA-E9697412515A}"/>
              </a:ext>
            </a:extLst>
          </p:cNvPr>
          <p:cNvSpPr/>
          <p:nvPr/>
        </p:nvSpPr>
        <p:spPr>
          <a:xfrm>
            <a:off x="4637908" y="729734"/>
            <a:ext cx="2916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7. </a:t>
            </a:r>
            <a:r>
              <a:rPr lang="ko-KR" altLang="en-US"/>
              <a:t>문장의 유사도 측정하기</a:t>
            </a:r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C49AD4-B5A7-48ED-9430-D9480278E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99" y="1581150"/>
            <a:ext cx="64770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07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7BE41FE-2D38-48D3-BBCF-C91E7032A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64" y="511302"/>
            <a:ext cx="3505200" cy="2781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F50204-4BCA-4A2B-9DFD-4BF273C3B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664" y="3565399"/>
            <a:ext cx="3505200" cy="25146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B592CA2-40EB-4591-9332-C2407C6D3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236" y="511302"/>
            <a:ext cx="57531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82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0912FA4-21CA-49E6-9C63-86543EEB7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0" y="942975"/>
            <a:ext cx="67437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99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503B73C-9DB9-4031-86F5-E7B624E5E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" y="782955"/>
            <a:ext cx="5495925" cy="43243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9671D73-9DF1-44B2-908D-C56A3478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328" y="782955"/>
            <a:ext cx="3933825" cy="24955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6A99F21-4A7A-4911-93B9-D431F25D6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329" y="3429000"/>
            <a:ext cx="393382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6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1748270-1357-47A8-8051-C7EBD83FE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32" y="1273302"/>
            <a:ext cx="5071943" cy="381076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E3B54D1-D436-44BC-918A-0971C1211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5" y="1273302"/>
            <a:ext cx="6074473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007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EB5D94-76A9-4868-9A66-7CAC93D37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" y="381000"/>
            <a:ext cx="4642866" cy="58643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D3415D9-A558-4D2C-AC76-19EBB093A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381000"/>
            <a:ext cx="6483858" cy="456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35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0590616-B6F0-4F5A-AB8F-869F3E40E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49" y="912970"/>
            <a:ext cx="5496497" cy="423233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D5D0D3B-2B73-4B97-ABFC-2A5142CC0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355" y="912970"/>
            <a:ext cx="5496497" cy="503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4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536733-2F3D-412A-85E9-28C91435E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24" y="255746"/>
            <a:ext cx="4232910" cy="64745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0CEE110-814E-4DAE-9293-1597B6BD7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55746"/>
            <a:ext cx="6337744" cy="498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180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D54B37-960E-440F-8D73-9BDEAAABC62B}"/>
              </a:ext>
            </a:extLst>
          </p:cNvPr>
          <p:cNvSpPr/>
          <p:nvPr/>
        </p:nvSpPr>
        <p:spPr>
          <a:xfrm>
            <a:off x="4753324" y="76631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8. </a:t>
            </a:r>
            <a:r>
              <a:rPr lang="ko-KR" altLang="en-US"/>
              <a:t>여자친구 선물 고르기</a:t>
            </a:r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FD28A1-9B9B-4B07-A5DD-0F455D468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80769"/>
            <a:ext cx="5320664" cy="43262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EB45298-B0A1-47E7-9045-6D572A618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90" y="1580769"/>
            <a:ext cx="5692709" cy="411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62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6C3FBE1-1A58-412E-8986-C00981E88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" y="385381"/>
            <a:ext cx="6011037" cy="521099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4696E77-AAC6-48E8-895A-EA4D91802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452" y="385381"/>
            <a:ext cx="4789633" cy="574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129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6916D47-FC0A-46D9-8EFE-60F6298DE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42" y="680466"/>
            <a:ext cx="4229100" cy="52959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1EA4B82-CC2B-45BF-B0D8-C16131AE1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80466"/>
            <a:ext cx="642747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22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A87928-CD17-4A5B-A4C5-10B82795A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042987"/>
            <a:ext cx="773430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45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C1036BF-E2F8-4A35-B1BC-4956A9C3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12" y="557212"/>
            <a:ext cx="6276975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54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EAD046-3FF3-4AB7-B2F6-DD9B58187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16" y="1453896"/>
            <a:ext cx="5436108" cy="330746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165EBE7-B1D5-4B1F-84ED-5F75BFFCC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945" y="1453896"/>
            <a:ext cx="5647339" cy="454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43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615F53-5206-48FD-BFB5-028A9630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04" y="91440"/>
            <a:ext cx="8384392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82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815866B-8D2C-4D6B-A27E-065322842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" y="399669"/>
            <a:ext cx="4495800" cy="60769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A17B57-CCCA-435D-9884-E693FCE32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008" y="399669"/>
            <a:ext cx="49053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414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9DFEBEA-42DD-40F4-844E-CE4FB05C0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68" y="234680"/>
            <a:ext cx="5362575" cy="40005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5D79107-73F6-496F-8299-3BDEE994DD8E}"/>
              </a:ext>
            </a:extLst>
          </p:cNvPr>
          <p:cNvSpPr/>
          <p:nvPr/>
        </p:nvSpPr>
        <p:spPr>
          <a:xfrm>
            <a:off x="1312346" y="2438400"/>
            <a:ext cx="9940371" cy="3482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9. </a:t>
            </a:r>
            <a:r>
              <a:rPr lang="ko-KR" altLang="en-US"/>
              <a:t>소감</a:t>
            </a:r>
            <a:endParaRPr lang="en-US" altLang="ko-KR" sz="2400"/>
          </a:p>
          <a:p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400"/>
              <a:t>이번 과제에서는 자연어 처리를 어떻게 할 수 있는지 알아보았습니다</a:t>
            </a:r>
            <a:r>
              <a:rPr lang="en-US" altLang="ko-KR" sz="1400"/>
              <a:t>.</a:t>
            </a:r>
          </a:p>
          <a:p>
            <a:pPr>
              <a:lnSpc>
                <a:spcPct val="150000"/>
              </a:lnSpc>
            </a:pP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재미있었던 점은 예전에 그림에 글자가 채워져 있는 그림을 보고 저걸 어떻게 하나하나 다 채워넣었나 하고 생각했었는데 그것들은 사람이 직접 채운게 아니라 워드 클라우드라는 기능을 사용하면 쉽게 만들 수 있었다는걸 알게 되었습니다</a:t>
            </a:r>
            <a:r>
              <a:rPr lang="en-US" altLang="ko-KR" sz="1400"/>
              <a:t>.</a:t>
            </a:r>
          </a:p>
          <a:p>
            <a:pPr>
              <a:lnSpc>
                <a:spcPct val="150000"/>
              </a:lnSpc>
            </a:pP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어려웠던 점은 </a:t>
            </a:r>
            <a:r>
              <a:rPr lang="en-US" altLang="ko-KR" sz="1400"/>
              <a:t>8-7 CountVecctorizer </a:t>
            </a:r>
            <a:r>
              <a:rPr lang="ko-KR" altLang="en-US" sz="1400"/>
              <a:t>함수를 사용할 때</a:t>
            </a: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문장을 단어로 나눠 벡터화시킨것을 </a:t>
            </a:r>
            <a:r>
              <a:rPr lang="en-US" altLang="ko-KR" sz="1400"/>
              <a:t>feature</a:t>
            </a:r>
            <a:r>
              <a:rPr lang="ko-KR" altLang="en-US" sz="1400"/>
              <a:t>로 잡는다</a:t>
            </a:r>
            <a:r>
              <a:rPr lang="en-US" altLang="ko-KR" sz="1400"/>
              <a:t>?</a:t>
            </a:r>
            <a:r>
              <a:rPr lang="ko-KR" altLang="en-US" sz="1400"/>
              <a:t> 벡터 리스트 값을 행렬로 출력한다</a:t>
            </a:r>
            <a:r>
              <a:rPr lang="en-US" altLang="ko-KR" sz="1400"/>
              <a:t>? </a:t>
            </a:r>
            <a:r>
              <a:rPr lang="ko-KR" altLang="en-US" sz="1400"/>
              <a:t>등 </a:t>
            </a: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벡터의 개념이 잘 이해가 되지 않았습니다</a:t>
            </a:r>
            <a:r>
              <a:rPr lang="en-US" altLang="ko-KR" sz="140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400"/>
              <a:t>이 부분에 대해선 기말 프로젝트를 진행하면서 필요하다면 조금 더 알아보도록 하겠습니다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6979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183</Words>
  <Application>Microsoft Office PowerPoint</Application>
  <PresentationFormat>와이드스크린</PresentationFormat>
  <Paragraphs>36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명회 구</dc:creator>
  <cp:lastModifiedBy>명회 구</cp:lastModifiedBy>
  <cp:revision>43</cp:revision>
  <dcterms:created xsi:type="dcterms:W3CDTF">2019-10-25T16:58:25Z</dcterms:created>
  <dcterms:modified xsi:type="dcterms:W3CDTF">2019-10-28T09:10:42Z</dcterms:modified>
</cp:coreProperties>
</file>