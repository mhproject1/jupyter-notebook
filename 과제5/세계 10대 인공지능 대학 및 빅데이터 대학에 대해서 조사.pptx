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69" r:id="rId3"/>
    <p:sldId id="287" r:id="rId4"/>
    <p:sldId id="297" r:id="rId5"/>
    <p:sldId id="283" r:id="rId6"/>
    <p:sldId id="256" r:id="rId7"/>
    <p:sldId id="268" r:id="rId8"/>
    <p:sldId id="271" r:id="rId9"/>
    <p:sldId id="280" r:id="rId10"/>
    <p:sldId id="284" r:id="rId11"/>
    <p:sldId id="275" r:id="rId12"/>
    <p:sldId id="285" r:id="rId13"/>
    <p:sldId id="286" r:id="rId14"/>
    <p:sldId id="267" r:id="rId15"/>
    <p:sldId id="272" r:id="rId16"/>
    <p:sldId id="274" r:id="rId17"/>
    <p:sldId id="282" r:id="rId18"/>
    <p:sldId id="273" r:id="rId19"/>
    <p:sldId id="266" r:id="rId20"/>
    <p:sldId id="259" r:id="rId21"/>
    <p:sldId id="28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8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B3153-8CE8-4098-A445-B4E743B06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B0674C-462F-4196-B9F0-A8D1599385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771C45-831D-49B6-BA92-4A5BA245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DBB639-93BE-4FAD-9F34-D85805B83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B2BDD3-4007-456A-B225-5EA2148F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290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06BF4-542B-4CB1-8BD1-0C88DCB0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DC4390-9AFA-4984-ACD2-0D68AE4E8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FB37A3-F55A-45EC-808E-92324230F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B8A5BC-1E9E-40C4-95CC-FD37E5CE6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DB7DA-9F19-4D02-AC83-C3E8B187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08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19427-7A28-454A-B161-AA60DF5EB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485DD5-BD42-4F55-AF63-DC5FC9F5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885167-95F9-442A-BCDB-59D4BC0A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3A7CA-0910-4873-B0EC-A9508B75E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A4398D-FF1B-4C49-B46F-4DA0522D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246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069C31-3565-4570-A023-21D24A8B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992B30-E296-4353-80EA-E399AC3BF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CBF423-BDC9-4F85-B7CB-EB310F6D1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5543A5-F329-49C6-B0CD-665D6FCC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A0DD32-0B90-466A-A12B-2863B82BD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2AA5E2-67CB-4DD1-AC00-DF427207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18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2036B-5589-46AC-BC76-6E48ABBB0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D38972-E080-4789-AA7E-AE8EFE6E1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4BCB1F-4337-4432-BB38-046BB9B85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755B4F-5BED-47A4-B78C-E32DA4BF0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6A810EA-9678-4331-AEB6-4B07644B7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5F0430-9D03-4B71-A4D5-BF69EA7D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72315B3-161D-41DB-9EA4-5B137727E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446A25-5C7A-4B70-82CF-006A7B21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25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BE219-1A74-4D74-AFB3-497D8AA2A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E41A0D-A8D4-47E9-B2D8-82BFE8561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DF2D2E-FED2-4A9B-B9A6-A30941CF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C70E91-EA27-4ADD-A583-854FD979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7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D2A0F6-08F5-4689-86FA-7C12938A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CB45699-6D37-49E3-ACBD-8901D3FF0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2EA266-5310-41EF-B138-465B47974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54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37D24-58FC-418C-9A6C-8BA886C50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78B158-8197-4624-9FEE-01FE22539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A0A2CA-9018-46A9-9C48-84B4A486C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0B2BBC-FCA9-4551-B859-0FCDA25E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0B86F9-E9B7-4BD1-AC05-964DF0225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B08126-1FAF-4683-8129-ED84C1DC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718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BAB319-3CAC-4CCD-A45B-02DE8FD48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44B1096-B784-4DAE-8F05-1B8167222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D299F1E-4A80-4453-811A-C31F0D7BC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95D1CD-6A1A-47C8-903F-FFA9C13EB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16CA03-CD6B-4D2B-9A11-C273DE0F9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D9D2E0-AE66-4DFC-9924-8EBBC050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300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9D65F-130E-4A79-9422-0B8F1AAD1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A75CA1-6CDD-4719-BF90-0F73F45C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ED3C09-EB2C-4BA2-AAF9-9858C3C9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36A200-2FAC-43B8-A229-242B82216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545138-792E-48ED-A09C-57FC5681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274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D8E933-E046-435E-8717-1B08C8E8F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54BEBF-E4CA-43D8-A42F-B1734FCCD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ACE50-1C44-4BA7-830C-5A89E25F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6E9027-44F2-4B0E-9222-78B24C01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90FD2-4F6D-48C2-A871-8E702D19C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660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888760A-43B6-4ACE-95FA-FBA33137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E2E862-9062-4A82-9E26-39D582292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1DB7F-F26E-465D-BE47-57B2FA2EE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2DE5C-283A-43A8-B747-19CF685651AB}" type="datetimeFigureOut">
              <a:rPr lang="ko-KR" altLang="en-US" smtClean="0"/>
              <a:t>2019-10-02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BA6DB9-AEFD-4DF9-B6F7-8E4804B50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D7782C-F763-4248-807E-7EFBF3668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92397-F52C-4B9A-A9E1-FD4E8BB1F91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560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37F7CB-8A0F-43A3-97B2-F5EDA64E2691}"/>
              </a:ext>
            </a:extLst>
          </p:cNvPr>
          <p:cNvSpPr txBox="1"/>
          <p:nvPr/>
        </p:nvSpPr>
        <p:spPr>
          <a:xfrm>
            <a:off x="1527281" y="1028343"/>
            <a:ext cx="9542997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세계 </a:t>
            </a:r>
            <a:r>
              <a:rPr lang="en-US" altLang="ko-KR"/>
              <a:t>10</a:t>
            </a:r>
            <a:r>
              <a:rPr lang="ko-KR" altLang="en-US"/>
              <a:t>대 인공지능 대학 및 빅데이터 대학에 대해서</a:t>
            </a:r>
            <a:r>
              <a:rPr lang="en-US" altLang="ko-KR"/>
              <a:t> </a:t>
            </a:r>
            <a:r>
              <a:rPr lang="ko-KR" altLang="en-US"/>
              <a:t>조사해본 결과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어느 분야든지 이름을 들어봤을법한 유명한 몇 개의 대학들이 최상위권에 분포하고 있었고</a:t>
            </a:r>
            <a:r>
              <a:rPr lang="en-US" altLang="ko-KR"/>
              <a:t>,</a:t>
            </a:r>
          </a:p>
          <a:p>
            <a:endParaRPr lang="en-US" altLang="ko-KR"/>
          </a:p>
          <a:p>
            <a:r>
              <a:rPr lang="ko-KR" altLang="en-US"/>
              <a:t>각 대학마다 연구하는 연구내용도 비슷했습니다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인공지능 대학교</a:t>
            </a:r>
            <a:r>
              <a:rPr lang="en-US" altLang="ko-KR"/>
              <a:t>(</a:t>
            </a:r>
            <a:r>
              <a:rPr lang="ko-KR" altLang="en-US"/>
              <a:t>교수진</a:t>
            </a:r>
            <a:r>
              <a:rPr lang="en-US" altLang="ko-KR"/>
              <a:t>)</a:t>
            </a:r>
            <a:r>
              <a:rPr lang="ko-KR" altLang="en-US"/>
              <a:t>들은 대체로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기계학습</a:t>
            </a:r>
            <a:r>
              <a:rPr lang="en-US" altLang="ko-KR"/>
              <a:t>, ML(</a:t>
            </a:r>
            <a:r>
              <a:rPr lang="ko-KR" altLang="en-US"/>
              <a:t>머신러닝</a:t>
            </a:r>
            <a:r>
              <a:rPr lang="en-US" altLang="ko-KR"/>
              <a:t>), </a:t>
            </a:r>
            <a:r>
              <a:rPr lang="ko-KR" altLang="en-US"/>
              <a:t>딥러닝</a:t>
            </a:r>
            <a:r>
              <a:rPr lang="en-US" altLang="ko-KR"/>
              <a:t>, </a:t>
            </a:r>
            <a:r>
              <a:rPr lang="ko-KR" altLang="en-US"/>
              <a:t>데이터 마이닝</a:t>
            </a:r>
            <a:r>
              <a:rPr lang="en-US" altLang="ko-KR"/>
              <a:t>, </a:t>
            </a:r>
            <a:r>
              <a:rPr lang="ko-KR" altLang="en-US"/>
              <a:t>컴퓨터 비전</a:t>
            </a:r>
            <a:r>
              <a:rPr lang="en-US" altLang="ko-KR"/>
              <a:t>, </a:t>
            </a:r>
            <a:r>
              <a:rPr lang="ko-KR" altLang="en-US"/>
              <a:t>웹 및 정보 검색 등을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연구 주제로 하고 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빅데이터 대학교</a:t>
            </a:r>
            <a:r>
              <a:rPr lang="en-US" altLang="ko-KR"/>
              <a:t>(</a:t>
            </a:r>
            <a:r>
              <a:rPr lang="ko-KR" altLang="en-US"/>
              <a:t>교수진</a:t>
            </a:r>
            <a:r>
              <a:rPr lang="en-US" altLang="ko-KR"/>
              <a:t>)</a:t>
            </a:r>
            <a:r>
              <a:rPr lang="ko-KR" altLang="en-US"/>
              <a:t>들은 대체로</a:t>
            </a:r>
          </a:p>
          <a:p>
            <a:endParaRPr lang="en-US" altLang="ko-KR"/>
          </a:p>
          <a:p>
            <a:r>
              <a:rPr lang="ko-KR" altLang="en-US"/>
              <a:t>통계 데이터 분석</a:t>
            </a:r>
            <a:r>
              <a:rPr lang="en-US" altLang="ko-KR"/>
              <a:t>,</a:t>
            </a:r>
            <a:r>
              <a:rPr lang="ko-KR" altLang="en-US"/>
              <a:t> 데이터 마이닝</a:t>
            </a:r>
            <a:r>
              <a:rPr lang="en-US" altLang="ko-KR"/>
              <a:t>, </a:t>
            </a:r>
            <a:r>
              <a:rPr lang="ko-KR" altLang="en-US"/>
              <a:t>데이터 과학</a:t>
            </a:r>
            <a:r>
              <a:rPr lang="en-US" altLang="ko-KR"/>
              <a:t>, </a:t>
            </a:r>
            <a:r>
              <a:rPr lang="ko-KR" altLang="en-US"/>
              <a:t>알고리즘</a:t>
            </a:r>
            <a:r>
              <a:rPr lang="en-US" altLang="ko-KR"/>
              <a:t>, </a:t>
            </a:r>
            <a:r>
              <a:rPr lang="ko-KR" altLang="en-US"/>
              <a:t>시각화와 커뮤니케이션</a:t>
            </a:r>
            <a:r>
              <a:rPr lang="en-US" altLang="ko-KR"/>
              <a:t> </a:t>
            </a:r>
            <a:r>
              <a:rPr lang="ko-KR" altLang="en-US"/>
              <a:t>등을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연구 주제로 하고 있습니다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776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A3FAC0-2A39-4005-979A-3E4F6280A108}"/>
              </a:ext>
            </a:extLst>
          </p:cNvPr>
          <p:cNvSpPr txBox="1"/>
          <p:nvPr/>
        </p:nvSpPr>
        <p:spPr>
          <a:xfrm>
            <a:off x="1288673" y="2592211"/>
            <a:ext cx="440216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400"/>
              <a:t>카네기 멜론 대학교</a:t>
            </a:r>
            <a:endParaRPr lang="en-US" altLang="ko-KR" sz="2400"/>
          </a:p>
          <a:p>
            <a:pPr marL="457200" indent="-457200">
              <a:buAutoNum type="arabicPeriod"/>
            </a:pPr>
            <a:endParaRPr lang="ko-KR" altLang="en-US" sz="2400"/>
          </a:p>
          <a:p>
            <a:r>
              <a:rPr lang="en-US" altLang="ko-KR" sz="2400"/>
              <a:t>2. MIT </a:t>
            </a:r>
            <a:r>
              <a:rPr lang="ko-KR" altLang="en-US" sz="2400"/>
              <a:t>메사추세츠 공과 대학</a:t>
            </a:r>
            <a:endParaRPr lang="en-US" altLang="ko-KR" sz="2400"/>
          </a:p>
          <a:p>
            <a:endParaRPr lang="ko-KR" altLang="en-US" sz="2400"/>
          </a:p>
          <a:p>
            <a:r>
              <a:rPr lang="en-US" altLang="ko-KR" sz="2400"/>
              <a:t>3. </a:t>
            </a:r>
            <a:r>
              <a:rPr lang="ko-KR" altLang="en-US" sz="2400"/>
              <a:t>스탠포드 대학교</a:t>
            </a:r>
            <a:endParaRPr lang="en-US" altLang="ko-KR" sz="2400"/>
          </a:p>
          <a:p>
            <a:endParaRPr lang="ko-KR" altLang="en-US" sz="2400"/>
          </a:p>
          <a:p>
            <a:r>
              <a:rPr lang="en-US" altLang="ko-KR" sz="2400"/>
              <a:t>4. </a:t>
            </a:r>
            <a:r>
              <a:rPr lang="ko-KR" altLang="en-US" sz="2400"/>
              <a:t>캘리포니아 대학교 </a:t>
            </a:r>
            <a:r>
              <a:rPr lang="en-US" altLang="ko-KR" sz="2400"/>
              <a:t>– </a:t>
            </a:r>
            <a:r>
              <a:rPr lang="ko-KR" altLang="en-US" sz="2400"/>
              <a:t>버클리</a:t>
            </a:r>
            <a:endParaRPr lang="en-US" altLang="ko-KR" sz="2400"/>
          </a:p>
          <a:p>
            <a:endParaRPr lang="ko-KR" altLang="en-US" sz="2400"/>
          </a:p>
          <a:p>
            <a:r>
              <a:rPr lang="en-US" altLang="ko-KR" sz="2400"/>
              <a:t>5. </a:t>
            </a:r>
            <a:r>
              <a:rPr lang="ko-KR" altLang="en-US" sz="2400"/>
              <a:t>워싱턴 대학교</a:t>
            </a:r>
            <a:endParaRPr lang="en-US" altLang="ko-KR" sz="2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FD676-1FCF-4FB5-B725-714CFF8D3ED3}"/>
              </a:ext>
            </a:extLst>
          </p:cNvPr>
          <p:cNvSpPr txBox="1"/>
          <p:nvPr/>
        </p:nvSpPr>
        <p:spPr>
          <a:xfrm>
            <a:off x="3880088" y="1322724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/>
              <a:t>세계 </a:t>
            </a:r>
            <a:r>
              <a:rPr lang="en-US" altLang="ko-KR" sz="2400"/>
              <a:t>10</a:t>
            </a:r>
            <a:r>
              <a:rPr lang="ko-KR" altLang="en-US" sz="2400"/>
              <a:t>대 인공지능 대학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DEB659-46FA-4192-BFDA-10936AFA9ABF}"/>
              </a:ext>
            </a:extLst>
          </p:cNvPr>
          <p:cNvSpPr/>
          <p:nvPr/>
        </p:nvSpPr>
        <p:spPr>
          <a:xfrm>
            <a:off x="6233531" y="2592211"/>
            <a:ext cx="54975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6. </a:t>
            </a:r>
            <a:r>
              <a:rPr lang="ko-KR" altLang="en-US" sz="2400"/>
              <a:t>코넬 대학</a:t>
            </a:r>
            <a:endParaRPr lang="en-US" altLang="ko-KR" sz="2400"/>
          </a:p>
          <a:p>
            <a:r>
              <a:rPr lang="ko-KR" altLang="en-US" sz="2400"/>
              <a:t> </a:t>
            </a:r>
          </a:p>
          <a:p>
            <a:r>
              <a:rPr lang="en-US" altLang="ko-KR" sz="2400"/>
              <a:t>7. </a:t>
            </a:r>
            <a:r>
              <a:rPr lang="ko-KR" altLang="en-US" sz="2400"/>
              <a:t>조지아 공과 대학</a:t>
            </a:r>
            <a:endParaRPr lang="en-US" altLang="ko-KR" sz="2400"/>
          </a:p>
          <a:p>
            <a:endParaRPr lang="ko-KR" altLang="en-US" sz="2400"/>
          </a:p>
          <a:p>
            <a:r>
              <a:rPr lang="en-US" altLang="ko-KR" sz="2400"/>
              <a:t>8. </a:t>
            </a:r>
            <a:r>
              <a:rPr lang="ko-KR" altLang="en-US" sz="2400"/>
              <a:t>일리노이 대학교 </a:t>
            </a:r>
            <a:r>
              <a:rPr lang="en-US" altLang="ko-KR" sz="2400"/>
              <a:t>- </a:t>
            </a:r>
            <a:r>
              <a:rPr lang="ko-KR" altLang="en-US" sz="2400"/>
              <a:t>우 바나 샴페인</a:t>
            </a:r>
            <a:endParaRPr lang="en-US" altLang="ko-KR" sz="2400"/>
          </a:p>
          <a:p>
            <a:endParaRPr lang="ko-KR" altLang="en-US" sz="2400"/>
          </a:p>
          <a:p>
            <a:r>
              <a:rPr lang="en-US" altLang="ko-KR" sz="2400"/>
              <a:t>9. </a:t>
            </a:r>
            <a:r>
              <a:rPr lang="ko-KR" altLang="en-US" sz="2400"/>
              <a:t>텍사스 대학교 </a:t>
            </a:r>
            <a:r>
              <a:rPr lang="en-US" altLang="ko-KR" sz="2400"/>
              <a:t>– </a:t>
            </a:r>
            <a:r>
              <a:rPr lang="ko-KR" altLang="en-US" sz="2400"/>
              <a:t>오스틴</a:t>
            </a:r>
            <a:endParaRPr lang="en-US" altLang="ko-KR" sz="2400"/>
          </a:p>
          <a:p>
            <a:endParaRPr lang="ko-KR" altLang="en-US" sz="2400"/>
          </a:p>
          <a:p>
            <a:r>
              <a:rPr lang="en-US" altLang="ko-KR" sz="2400"/>
              <a:t>10. </a:t>
            </a:r>
            <a:r>
              <a:rPr lang="ko-KR" altLang="en-US" sz="2400"/>
              <a:t>미시간 대학교 </a:t>
            </a:r>
            <a:r>
              <a:rPr lang="en-US" altLang="ko-KR" sz="2400"/>
              <a:t>- </a:t>
            </a:r>
            <a:r>
              <a:rPr lang="ko-KR" altLang="en-US" sz="2400"/>
              <a:t>앤 아버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271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94EC34-706E-4A58-8A4E-435688931710}"/>
              </a:ext>
            </a:extLst>
          </p:cNvPr>
          <p:cNvSpPr/>
          <p:nvPr/>
        </p:nvSpPr>
        <p:spPr>
          <a:xfrm>
            <a:off x="1360449" y="2591295"/>
            <a:ext cx="451731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fontAlgn="base">
              <a:buAutoNum type="arabicPeriod"/>
            </a:pP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스탠포드 대학교</a:t>
            </a:r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  <a:p>
            <a:pPr marL="342900" indent="-342900" algn="just" fontAlgn="base">
              <a:buAutoNum type="arabicPeriod"/>
            </a:pPr>
            <a:endParaRPr lang="en-US" altLang="ko-KR" sz="2400"/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  <a:ea typeface="+mj-ea"/>
              </a:rPr>
              <a:t>2.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콜롬비아 대학교</a:t>
            </a:r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  <a:ea typeface="+mj-ea"/>
              </a:rPr>
              <a:t>3.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캘리포니아 대학교 </a:t>
            </a:r>
            <a:r>
              <a:rPr lang="en-US" altLang="ko-KR" sz="2400" kern="0">
                <a:solidFill>
                  <a:srgbClr val="000000"/>
                </a:solidFill>
                <a:latin typeface="+mj-ea"/>
                <a:ea typeface="+mj-ea"/>
              </a:rPr>
              <a:t>– </a:t>
            </a: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버클리</a:t>
            </a:r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  <a:ea typeface="+mj-ea"/>
              </a:rPr>
              <a:t>4.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남부 캘리포니아 대학</a:t>
            </a:r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  <a:ea typeface="+mj-ea"/>
              </a:rPr>
              <a:t>5.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조지 타운 대학교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37DC7E-39B9-4E2E-9898-468096D9DE43}"/>
              </a:ext>
            </a:extLst>
          </p:cNvPr>
          <p:cNvSpPr/>
          <p:nvPr/>
        </p:nvSpPr>
        <p:spPr>
          <a:xfrm>
            <a:off x="3828048" y="1374491"/>
            <a:ext cx="3621504" cy="602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세계 </a:t>
            </a:r>
            <a:r>
              <a:rPr lang="en-US" altLang="ko-KR" sz="2400" kern="0">
                <a:solidFill>
                  <a:srgbClr val="000000"/>
                </a:solidFill>
                <a:latin typeface="+mj-ea"/>
                <a:ea typeface="+mj-ea"/>
              </a:rPr>
              <a:t>10</a:t>
            </a: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대 </a:t>
            </a:r>
            <a:r>
              <a:rPr lang="ko-KR" altLang="en-US" sz="2400" kern="0">
                <a:solidFill>
                  <a:srgbClr val="000000"/>
                </a:solidFill>
                <a:latin typeface="+mj-ea"/>
              </a:rPr>
              <a:t>빅데이터 </a:t>
            </a:r>
            <a:r>
              <a:rPr lang="ko-KR" altLang="en-US" sz="2400" kern="0">
                <a:solidFill>
                  <a:srgbClr val="000000"/>
                </a:solidFill>
                <a:latin typeface="+mj-ea"/>
                <a:ea typeface="+mj-ea"/>
              </a:rPr>
              <a:t>대학</a:t>
            </a:r>
            <a:endParaRPr lang="en-US" altLang="ko-KR" sz="2400" kern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BBA536-161F-43A0-8AA6-1A601FF26334}"/>
              </a:ext>
            </a:extLst>
          </p:cNvPr>
          <p:cNvSpPr/>
          <p:nvPr/>
        </p:nvSpPr>
        <p:spPr>
          <a:xfrm>
            <a:off x="6069981" y="2591295"/>
            <a:ext cx="509239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</a:rPr>
              <a:t>6.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</a:rPr>
              <a:t>시카고 대학교</a:t>
            </a:r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</a:rPr>
              <a:t>7.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</a:rPr>
              <a:t>인대애나 대학교 블루밍턴</a:t>
            </a:r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</a:rPr>
              <a:t>8.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</a:rPr>
              <a:t>루이지애나 주립대 학교</a:t>
            </a:r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</a:rPr>
              <a:t>9.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</a:rPr>
              <a:t>매사추세츠 대학교 애 머스트</a:t>
            </a:r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endParaRPr lang="en-US" altLang="ko-KR" sz="2400" kern="0">
              <a:solidFill>
                <a:srgbClr val="000000"/>
              </a:solidFill>
              <a:latin typeface="+mj-ea"/>
            </a:endParaRPr>
          </a:p>
          <a:p>
            <a:pPr algn="just" fontAlgn="base"/>
            <a:r>
              <a:rPr lang="en-US" altLang="ko-KR" sz="2400" kern="0">
                <a:solidFill>
                  <a:srgbClr val="000000"/>
                </a:solidFill>
                <a:latin typeface="+mj-ea"/>
              </a:rPr>
              <a:t>10. </a:t>
            </a:r>
            <a:r>
              <a:rPr lang="ko-KR" altLang="en-US" sz="2400" kern="0">
                <a:solidFill>
                  <a:srgbClr val="000000"/>
                </a:solidFill>
                <a:latin typeface="+mj-ea"/>
              </a:rPr>
              <a:t>뉴욕 대학교</a:t>
            </a:r>
          </a:p>
        </p:txBody>
      </p:sp>
    </p:spTree>
    <p:extLst>
      <p:ext uri="{BB962C8B-B14F-4D97-AF65-F5344CB8AC3E}">
        <p14:creationId xmlns:p14="http://schemas.microsoft.com/office/powerpoint/2010/main" val="12398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37F7CB-8A0F-43A3-97B2-F5EDA64E2691}"/>
              </a:ext>
            </a:extLst>
          </p:cNvPr>
          <p:cNvSpPr txBox="1"/>
          <p:nvPr/>
        </p:nvSpPr>
        <p:spPr>
          <a:xfrm>
            <a:off x="918140" y="474345"/>
            <a:ext cx="1035572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조사해본 소감은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최상위권 몇 개의 유명한 대학들을 제외하고 순위권에 있는 많은 대학들중에서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처음 들어보는 이름의 대학교들이 많았습니다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같은 주제</a:t>
            </a:r>
            <a:r>
              <a:rPr lang="en-US" altLang="ko-KR"/>
              <a:t>(?)</a:t>
            </a:r>
            <a:r>
              <a:rPr lang="ko-KR" altLang="en-US"/>
              <a:t>를 연구하는 대학들에 대해</a:t>
            </a:r>
            <a:r>
              <a:rPr lang="en-US" altLang="ko-KR"/>
              <a:t>, </a:t>
            </a:r>
            <a:r>
              <a:rPr lang="ko-KR" altLang="en-US"/>
              <a:t>직접 배우진 못하더라도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그들이 어디서 뭘 배우고 연구하고 있는지 관심을 가져야겠다는 생각이 들었습니다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아쉬웠던 점은 대학교를 하나하나 조사하기에는 시간이 부족했습니다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대학교 교수진들이 뭘 연구하는지 한명한명 보면 좋다고 하셔서 하나하나 찾아보려다가 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시간이 부족해서 중간에 끊었습니다</a:t>
            </a:r>
            <a:r>
              <a:rPr lang="en-US" altLang="ko-KR"/>
              <a:t>!</a:t>
            </a:r>
          </a:p>
          <a:p>
            <a:endParaRPr lang="en-US" altLang="ko-KR"/>
          </a:p>
          <a:p>
            <a:r>
              <a:rPr lang="ko-KR" altLang="en-US"/>
              <a:t>아래는 제가 개인적으로 이름만 들어봤던</a:t>
            </a:r>
            <a:r>
              <a:rPr lang="en-US" altLang="ko-KR"/>
              <a:t>(..?) </a:t>
            </a:r>
            <a:r>
              <a:rPr lang="ko-KR" altLang="en-US"/>
              <a:t>알고있던 다섯 개의 대학교에서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교수님 몇 분을 스크랩 해왔습니다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								</a:t>
            </a:r>
            <a:r>
              <a:rPr lang="ko-KR" altLang="en-US" sz="1000"/>
              <a:t>그런데 뭘 연구하시는건지는</a:t>
            </a:r>
            <a:r>
              <a:rPr lang="en-US" altLang="ko-KR" sz="1000"/>
              <a:t>…. </a:t>
            </a:r>
            <a:r>
              <a:rPr lang="ko-KR" altLang="en-US" sz="1000"/>
              <a:t>알 수 없었습니다</a:t>
            </a:r>
            <a:endParaRPr lang="en-US" altLang="ko-KR" sz="1000"/>
          </a:p>
        </p:txBody>
      </p:sp>
    </p:spTree>
    <p:extLst>
      <p:ext uri="{BB962C8B-B14F-4D97-AF65-F5344CB8AC3E}">
        <p14:creationId xmlns:p14="http://schemas.microsoft.com/office/powerpoint/2010/main" val="401350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A3FAC0-2A39-4005-979A-3E4F6280A108}"/>
              </a:ext>
            </a:extLst>
          </p:cNvPr>
          <p:cNvSpPr txBox="1"/>
          <p:nvPr/>
        </p:nvSpPr>
        <p:spPr>
          <a:xfrm>
            <a:off x="4368474" y="2358036"/>
            <a:ext cx="37561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/>
              <a:t>카네기 멜론 대학교</a:t>
            </a:r>
            <a:endParaRPr lang="ko-KR" altLang="en-US" sz="24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CFE99A-2566-4267-89F4-6EB89CAAE0E0}"/>
              </a:ext>
            </a:extLst>
          </p:cNvPr>
          <p:cNvSpPr/>
          <p:nvPr/>
        </p:nvSpPr>
        <p:spPr>
          <a:xfrm>
            <a:off x="650510" y="3916302"/>
            <a:ext cx="111920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/>
              <a:t>위치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펜실베이니아 주 피츠버그</a:t>
            </a:r>
            <a:endParaRPr lang="en-US" altLang="ko-KR"/>
          </a:p>
          <a:p>
            <a:br>
              <a:rPr lang="ko-KR" altLang="en-US"/>
            </a:br>
            <a:r>
              <a:rPr lang="ko-KR" altLang="en-US" b="1"/>
              <a:t>핵심 과정 </a:t>
            </a:r>
            <a:r>
              <a:rPr lang="en-US" altLang="ko-KR" b="1"/>
              <a:t>:</a:t>
            </a:r>
            <a:r>
              <a:rPr lang="ko-KR" altLang="en-US"/>
              <a:t> 고급 기계 학습</a:t>
            </a:r>
            <a:r>
              <a:rPr lang="en-US" altLang="ko-KR"/>
              <a:t>, </a:t>
            </a:r>
            <a:r>
              <a:rPr lang="ko-KR" altLang="en-US"/>
              <a:t>통계</a:t>
            </a:r>
            <a:r>
              <a:rPr lang="en-US" altLang="ko-KR"/>
              <a:t>, </a:t>
            </a:r>
            <a:r>
              <a:rPr lang="ko-KR" altLang="en-US"/>
              <a:t>연구</a:t>
            </a:r>
            <a:r>
              <a:rPr lang="en-US" altLang="ko-KR"/>
              <a:t>, </a:t>
            </a:r>
            <a:r>
              <a:rPr lang="ko-KR" altLang="en-US"/>
              <a:t>통계 기계 학습</a:t>
            </a:r>
            <a:r>
              <a:rPr lang="en-US" altLang="ko-KR"/>
              <a:t>, </a:t>
            </a:r>
            <a:r>
              <a:rPr lang="ko-KR" altLang="en-US"/>
              <a:t>데이터 분석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.</a:t>
            </a:r>
          </a:p>
          <a:p>
            <a:br>
              <a:rPr lang="ko-KR" altLang="en-US"/>
            </a:br>
            <a:r>
              <a:rPr lang="ko-KR" altLang="en-US" b="1"/>
              <a:t>초점 영역</a:t>
            </a:r>
            <a:r>
              <a:rPr lang="en-US" altLang="ko-KR"/>
              <a:t>: </a:t>
            </a:r>
            <a:r>
              <a:rPr lang="ko-KR" altLang="en-US"/>
              <a:t>기계 학습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, NLP, </a:t>
            </a:r>
            <a:r>
              <a:rPr lang="ko-KR" altLang="en-US"/>
              <a:t>컴퓨터 비전</a:t>
            </a:r>
            <a:r>
              <a:rPr lang="en-US" altLang="ko-KR"/>
              <a:t>, </a:t>
            </a:r>
            <a:r>
              <a:rPr lang="ko-KR" altLang="en-US"/>
              <a:t>로봇 공학</a:t>
            </a:r>
            <a:r>
              <a:rPr lang="en-US" altLang="ko-KR"/>
              <a:t>, </a:t>
            </a:r>
            <a:r>
              <a:rPr lang="ko-KR" altLang="en-US"/>
              <a:t>딥 러닝</a:t>
            </a:r>
            <a:r>
              <a:rPr lang="en-US" altLang="ko-KR"/>
              <a:t>, </a:t>
            </a:r>
            <a:r>
              <a:rPr lang="ko-KR" altLang="en-US"/>
              <a:t>데이터 마이닝</a:t>
            </a:r>
            <a:r>
              <a:rPr lang="en-US" altLang="ko-KR"/>
              <a:t>, </a:t>
            </a:r>
            <a:r>
              <a:rPr lang="ko-KR" altLang="en-US"/>
              <a:t>웹 및 정보 검색 등</a:t>
            </a:r>
          </a:p>
        </p:txBody>
      </p:sp>
    </p:spTree>
    <p:extLst>
      <p:ext uri="{BB962C8B-B14F-4D97-AF65-F5344CB8AC3E}">
        <p14:creationId xmlns:p14="http://schemas.microsoft.com/office/powerpoint/2010/main" val="3183341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E99A0C1-D2CA-4A9A-848E-0CAFBFA10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92" y="576262"/>
            <a:ext cx="5581650" cy="57054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025DBEC-ABE8-422B-9CC5-287BD624F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904"/>
            <a:ext cx="5562600" cy="324860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D89C29-2052-4DE9-8E99-18E4BFE13A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46808"/>
            <a:ext cx="5562600" cy="292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01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A017AAA-0FF2-4038-A584-B1678F277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29" y="190500"/>
            <a:ext cx="5752752" cy="3238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A5D20F7-AA98-44FD-B4B7-58D55E30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068" y="125916"/>
            <a:ext cx="5375703" cy="34248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4210041-053C-47B5-8C33-2A9C58C367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8068" y="3550734"/>
            <a:ext cx="5505450" cy="30596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9F639BC-F25A-46EE-980E-BCC4832A8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229" y="3550734"/>
            <a:ext cx="5752752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7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5B75B9-E5A9-4FFC-92AB-F4BAC2F3EE93}"/>
              </a:ext>
            </a:extLst>
          </p:cNvPr>
          <p:cNvSpPr txBox="1"/>
          <p:nvPr/>
        </p:nvSpPr>
        <p:spPr>
          <a:xfrm>
            <a:off x="4905610" y="2358036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/>
              <a:t>코넬 대학교</a:t>
            </a:r>
            <a:endParaRPr lang="ko-KR" alt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276DB-34B0-4288-A7B3-6A9E0DC5B8EE}"/>
              </a:ext>
            </a:extLst>
          </p:cNvPr>
          <p:cNvSpPr txBox="1"/>
          <p:nvPr/>
        </p:nvSpPr>
        <p:spPr>
          <a:xfrm>
            <a:off x="735981" y="434898"/>
            <a:ext cx="276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인공지능 세계 </a:t>
            </a:r>
            <a:r>
              <a:rPr lang="en-US" altLang="ko-KR"/>
              <a:t>10</a:t>
            </a:r>
            <a:r>
              <a:rPr lang="ko-KR" altLang="en-US"/>
              <a:t>대 대학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095548-7339-4FF2-A7F2-0DF1A8F27639}"/>
              </a:ext>
            </a:extLst>
          </p:cNvPr>
          <p:cNvSpPr/>
          <p:nvPr/>
        </p:nvSpPr>
        <p:spPr>
          <a:xfrm>
            <a:off x="735981" y="3960907"/>
            <a:ext cx="111920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/>
              <a:t>위치</a:t>
            </a:r>
            <a:r>
              <a:rPr lang="ko-KR" altLang="en-US"/>
              <a:t> </a:t>
            </a:r>
            <a:r>
              <a:rPr lang="en-US" altLang="ko-KR"/>
              <a:t>: Ithaca, New York</a:t>
            </a:r>
            <a:br>
              <a:rPr lang="ko-KR" altLang="en-US"/>
            </a:br>
            <a:endParaRPr lang="en-US" altLang="ko-KR"/>
          </a:p>
          <a:p>
            <a:r>
              <a:rPr lang="ko-KR" altLang="en-US" b="1"/>
              <a:t>핵심 과정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수학 및 이론 기초</a:t>
            </a:r>
            <a:r>
              <a:rPr lang="en-US" altLang="ko-KR"/>
              <a:t>, </a:t>
            </a:r>
            <a:r>
              <a:rPr lang="ko-KR" altLang="en-US"/>
              <a:t>컴퓨터 시스템</a:t>
            </a:r>
            <a:r>
              <a:rPr lang="en-US" altLang="ko-KR"/>
              <a:t>, </a:t>
            </a:r>
            <a:r>
              <a:rPr lang="ko-KR" altLang="en-US"/>
              <a:t>응용</a:t>
            </a:r>
            <a:r>
              <a:rPr lang="en-US" altLang="ko-KR"/>
              <a:t>, </a:t>
            </a:r>
            <a:r>
              <a:rPr lang="ko-KR" altLang="en-US"/>
              <a:t>연구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.</a:t>
            </a:r>
            <a:br>
              <a:rPr lang="ko-KR" altLang="en-US"/>
            </a:br>
            <a:endParaRPr lang="en-US" altLang="ko-KR"/>
          </a:p>
          <a:p>
            <a:r>
              <a:rPr lang="ko-KR" altLang="en-US" b="1"/>
              <a:t>중점 분야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머신 러닝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, NLP, </a:t>
            </a:r>
            <a:r>
              <a:rPr lang="ko-KR" altLang="en-US"/>
              <a:t>컴퓨터 비전</a:t>
            </a:r>
            <a:r>
              <a:rPr lang="en-US" altLang="ko-KR"/>
              <a:t>, </a:t>
            </a:r>
            <a:r>
              <a:rPr lang="ko-KR" altLang="en-US"/>
              <a:t>딥 러닝</a:t>
            </a:r>
            <a:r>
              <a:rPr lang="en-US" altLang="ko-KR"/>
              <a:t>, </a:t>
            </a:r>
            <a:r>
              <a:rPr lang="ko-KR" altLang="en-US"/>
              <a:t>데이터 마이닝</a:t>
            </a:r>
            <a:r>
              <a:rPr lang="en-US" altLang="ko-KR"/>
              <a:t>, </a:t>
            </a:r>
            <a:r>
              <a:rPr lang="ko-KR" altLang="en-US"/>
              <a:t>웹 및 정보 검색 등</a:t>
            </a:r>
          </a:p>
        </p:txBody>
      </p:sp>
    </p:spTree>
    <p:extLst>
      <p:ext uri="{BB962C8B-B14F-4D97-AF65-F5344CB8AC3E}">
        <p14:creationId xmlns:p14="http://schemas.microsoft.com/office/powerpoint/2010/main" val="216978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16CC538-18EB-45EA-97DD-186CBAF4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15" y="192649"/>
            <a:ext cx="5278038" cy="275640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25450D8-8009-43E0-9796-9B967D22C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395" y="2009992"/>
            <a:ext cx="7348654" cy="93906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2DC5A28-BC53-4B95-B1C0-E7C37CBF2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16" y="3615819"/>
            <a:ext cx="5278038" cy="275640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F154C3C-3845-41A1-A844-8A1A60445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394" y="5433161"/>
            <a:ext cx="7348655" cy="93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789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6367D7D-0D24-4B55-9EDD-18F662FC6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49" y="106285"/>
            <a:ext cx="5985651" cy="26146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9AE0E9-DA22-405C-BC05-EEBEA40CE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024" y="1282390"/>
            <a:ext cx="6969512" cy="14385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72705AA-A0DF-442F-9781-57B86DFDA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025" y="5196468"/>
            <a:ext cx="6969511" cy="10983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12D77C2-46DC-4CB4-994D-97B816FDE8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9" y="3680250"/>
            <a:ext cx="3558402" cy="26146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A0B9E24-3E8C-4013-AC73-7E59C741E5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137" y="3680250"/>
            <a:ext cx="3088887" cy="261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200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1F970F-AEAB-4C6A-AFB1-C5CCEA42931C}"/>
              </a:ext>
            </a:extLst>
          </p:cNvPr>
          <p:cNvSpPr txBox="1"/>
          <p:nvPr/>
        </p:nvSpPr>
        <p:spPr>
          <a:xfrm>
            <a:off x="4905610" y="2358036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/>
              <a:t>스탠포드 대학교</a:t>
            </a:r>
            <a:endParaRPr lang="ko-KR" altLang="en-US" sz="24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9652D3-FBAC-485E-8182-4DEDEFC55BA9}"/>
              </a:ext>
            </a:extLst>
          </p:cNvPr>
          <p:cNvSpPr/>
          <p:nvPr/>
        </p:nvSpPr>
        <p:spPr>
          <a:xfrm>
            <a:off x="735981" y="3960907"/>
            <a:ext cx="111920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/>
              <a:t>위치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캘리포니아 주 스탠포드</a:t>
            </a:r>
            <a:br>
              <a:rPr lang="ko-KR" altLang="en-US"/>
            </a:br>
            <a:endParaRPr lang="en-US" altLang="ko-KR"/>
          </a:p>
          <a:p>
            <a:r>
              <a:rPr lang="ko-KR" altLang="en-US" b="1"/>
              <a:t>핵심 과정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수학 및 이론 기초</a:t>
            </a:r>
            <a:r>
              <a:rPr lang="en-US" altLang="ko-KR"/>
              <a:t>, </a:t>
            </a:r>
            <a:r>
              <a:rPr lang="ko-KR" altLang="en-US"/>
              <a:t>컴퓨터 시스템</a:t>
            </a:r>
            <a:r>
              <a:rPr lang="en-US" altLang="ko-KR"/>
              <a:t>, </a:t>
            </a:r>
            <a:r>
              <a:rPr lang="ko-KR" altLang="en-US"/>
              <a:t>응용</a:t>
            </a:r>
            <a:r>
              <a:rPr lang="en-US" altLang="ko-KR"/>
              <a:t>, </a:t>
            </a:r>
            <a:r>
              <a:rPr lang="ko-KR" altLang="en-US"/>
              <a:t>연구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.</a:t>
            </a:r>
            <a:br>
              <a:rPr lang="ko-KR" altLang="en-US"/>
            </a:br>
            <a:endParaRPr lang="en-US" altLang="ko-KR"/>
          </a:p>
          <a:p>
            <a:r>
              <a:rPr lang="ko-KR" altLang="en-US" b="1"/>
              <a:t>중점 분야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기계 학습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, NLP, </a:t>
            </a:r>
            <a:r>
              <a:rPr lang="ko-KR" altLang="en-US"/>
              <a:t>컴퓨터 비전</a:t>
            </a:r>
            <a:r>
              <a:rPr lang="en-US" altLang="ko-KR"/>
              <a:t>, </a:t>
            </a:r>
            <a:r>
              <a:rPr lang="ko-KR" altLang="en-US"/>
              <a:t>딥 러닝</a:t>
            </a:r>
            <a:r>
              <a:rPr lang="en-US" altLang="ko-KR"/>
              <a:t>, </a:t>
            </a:r>
            <a:r>
              <a:rPr lang="ko-KR" altLang="en-US"/>
              <a:t>데이터 마이닝</a:t>
            </a:r>
            <a:r>
              <a:rPr lang="en-US" altLang="ko-KR"/>
              <a:t>, </a:t>
            </a:r>
            <a:r>
              <a:rPr lang="ko-KR" altLang="en-US"/>
              <a:t>웹 및 정보 검색 등</a:t>
            </a:r>
          </a:p>
        </p:txBody>
      </p:sp>
    </p:spTree>
    <p:extLst>
      <p:ext uri="{BB962C8B-B14F-4D97-AF65-F5344CB8AC3E}">
        <p14:creationId xmlns:p14="http://schemas.microsoft.com/office/powerpoint/2010/main" val="1172059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DAAFCAC-69CE-4B46-BFEC-49565D4B1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3168" y="844472"/>
            <a:ext cx="5945664" cy="16422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DB13AD5-08CB-4BDB-941E-AE63AF7A9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31" y="521087"/>
            <a:ext cx="2271829" cy="26540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C67451A-47C8-43F5-970D-26469D999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169" y="4195298"/>
            <a:ext cx="5945664" cy="11015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373393B-CAEA-4940-99AC-6A3DB48D0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46" y="3682908"/>
            <a:ext cx="20478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56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4DAE547-78BD-40D6-9134-882DD2D8D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771" y="1037179"/>
            <a:ext cx="5785747" cy="163911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779F4DC-2D45-4CA9-B8A3-DDEBBFD3D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25" y="546757"/>
            <a:ext cx="2212821" cy="25424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A83179F-E2F0-4CBE-B17F-601B428F2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771" y="4080184"/>
            <a:ext cx="7839075" cy="139506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52D6F1-00DF-4435-B241-139BFC1290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5" y="3429000"/>
            <a:ext cx="2212821" cy="292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1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46EE91-93EE-40D8-822D-D6E55F9E66F2}"/>
              </a:ext>
            </a:extLst>
          </p:cNvPr>
          <p:cNvSpPr txBox="1"/>
          <p:nvPr/>
        </p:nvSpPr>
        <p:spPr>
          <a:xfrm>
            <a:off x="3565078" y="2312318"/>
            <a:ext cx="5533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/>
              <a:t>MIT(</a:t>
            </a:r>
            <a:r>
              <a:rPr lang="ko-KR" altLang="en-US" sz="3200"/>
              <a:t>메사추세츠 공과 대학교</a:t>
            </a:r>
            <a:r>
              <a:rPr lang="en-US" altLang="ko-KR" sz="3200"/>
              <a:t>)</a:t>
            </a:r>
            <a:endParaRPr lang="ko-KR" altLang="en-US" sz="24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8C72-5B6F-4CCA-A5BA-7FB78CA31179}"/>
              </a:ext>
            </a:extLst>
          </p:cNvPr>
          <p:cNvSpPr/>
          <p:nvPr/>
        </p:nvSpPr>
        <p:spPr>
          <a:xfrm>
            <a:off x="735981" y="3960907"/>
            <a:ext cx="111920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/>
              <a:t>위치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케임브리지</a:t>
            </a:r>
            <a:r>
              <a:rPr lang="en-US" altLang="ko-KR"/>
              <a:t>, </a:t>
            </a:r>
            <a:r>
              <a:rPr lang="ko-KR" altLang="en-US"/>
              <a:t>매사추세츠</a:t>
            </a:r>
            <a:br>
              <a:rPr lang="ko-KR" altLang="en-US"/>
            </a:br>
            <a:endParaRPr lang="en-US" altLang="ko-KR"/>
          </a:p>
          <a:p>
            <a:r>
              <a:rPr lang="ko-KR" altLang="en-US" b="1"/>
              <a:t>핵심 과정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컴퓨터 아키텍처 및 논리 설계</a:t>
            </a:r>
            <a:r>
              <a:rPr lang="en-US" altLang="ko-KR"/>
              <a:t>, </a:t>
            </a:r>
            <a:r>
              <a:rPr lang="ko-KR" altLang="en-US"/>
              <a:t>컴퓨터 과학</a:t>
            </a:r>
            <a:r>
              <a:rPr lang="en-US" altLang="ko-KR"/>
              <a:t>, </a:t>
            </a:r>
            <a:r>
              <a:rPr lang="ko-KR" altLang="en-US"/>
              <a:t>고급 수학</a:t>
            </a:r>
            <a:r>
              <a:rPr lang="en-US" altLang="ko-KR"/>
              <a:t>, </a:t>
            </a:r>
            <a:r>
              <a:rPr lang="ko-KR" altLang="en-US"/>
              <a:t>전기 공학 기반</a:t>
            </a:r>
            <a:r>
              <a:rPr lang="en-US" altLang="ko-KR"/>
              <a:t>, </a:t>
            </a:r>
            <a:r>
              <a:rPr lang="ko-KR" altLang="en-US"/>
              <a:t>인공 지능 </a:t>
            </a:r>
            <a:r>
              <a:rPr lang="en-US" altLang="ko-KR"/>
              <a:t>.</a:t>
            </a:r>
            <a:br>
              <a:rPr lang="ko-KR" altLang="en-US"/>
            </a:br>
            <a:br>
              <a:rPr lang="ko-KR" altLang="en-US"/>
            </a:br>
            <a:r>
              <a:rPr lang="ko-KR" altLang="en-US" b="1"/>
              <a:t>중점 분야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머신 러닝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, NLP, </a:t>
            </a:r>
            <a:r>
              <a:rPr lang="ko-KR" altLang="en-US"/>
              <a:t>컴퓨터 비전</a:t>
            </a:r>
            <a:r>
              <a:rPr lang="en-US" altLang="ko-KR"/>
              <a:t>, </a:t>
            </a:r>
            <a:r>
              <a:rPr lang="ko-KR" altLang="en-US"/>
              <a:t>딥 러닝</a:t>
            </a:r>
            <a:r>
              <a:rPr lang="en-US" altLang="ko-KR"/>
              <a:t>, </a:t>
            </a:r>
            <a:r>
              <a:rPr lang="ko-KR" altLang="en-US"/>
              <a:t>데이터 마이닝</a:t>
            </a:r>
            <a:r>
              <a:rPr lang="en-US" altLang="ko-KR"/>
              <a:t>, </a:t>
            </a:r>
            <a:r>
              <a:rPr lang="ko-KR" altLang="en-US"/>
              <a:t>웹 및 정보 검색 등</a:t>
            </a:r>
          </a:p>
        </p:txBody>
      </p:sp>
    </p:spTree>
    <p:extLst>
      <p:ext uri="{BB962C8B-B14F-4D97-AF65-F5344CB8AC3E}">
        <p14:creationId xmlns:p14="http://schemas.microsoft.com/office/powerpoint/2010/main" val="4222249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49E7E3-18D1-447B-A256-26C227E96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290" y="412409"/>
            <a:ext cx="9547419" cy="603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21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B57E66C-AD23-48FF-A5C8-3BB1EE5BC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132" y="772950"/>
            <a:ext cx="8411736" cy="531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76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C4D735F-9803-4DBA-B238-7F740219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81" y="593518"/>
            <a:ext cx="8986837" cy="567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888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A123C4-C7A7-4222-B3E3-D6C5E9A60A95}"/>
              </a:ext>
            </a:extLst>
          </p:cNvPr>
          <p:cNvSpPr txBox="1"/>
          <p:nvPr/>
        </p:nvSpPr>
        <p:spPr>
          <a:xfrm>
            <a:off x="3446075" y="2312318"/>
            <a:ext cx="52998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/>
              <a:t>캘리포니아 대학교 </a:t>
            </a:r>
            <a:r>
              <a:rPr lang="en-US" altLang="ko-KR" sz="3200"/>
              <a:t>- </a:t>
            </a:r>
            <a:r>
              <a:rPr lang="ko-KR" altLang="en-US" sz="3200"/>
              <a:t>버클리</a:t>
            </a:r>
            <a:endParaRPr lang="ko-KR" altLang="en-US" sz="24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BB10AA0-ECCB-4F74-97F8-C250A211E33F}"/>
              </a:ext>
            </a:extLst>
          </p:cNvPr>
          <p:cNvSpPr/>
          <p:nvPr/>
        </p:nvSpPr>
        <p:spPr>
          <a:xfrm>
            <a:off x="735981" y="3960907"/>
            <a:ext cx="111920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/>
              <a:t>위치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버클리</a:t>
            </a:r>
            <a:r>
              <a:rPr lang="en-US" altLang="ko-KR"/>
              <a:t>, </a:t>
            </a:r>
            <a:r>
              <a:rPr lang="ko-KR" altLang="en-US"/>
              <a:t>캘리포니아</a:t>
            </a:r>
            <a:br>
              <a:rPr lang="ko-KR" altLang="en-US"/>
            </a:br>
            <a:endParaRPr lang="en-US" altLang="ko-KR"/>
          </a:p>
          <a:p>
            <a:r>
              <a:rPr lang="ko-KR" altLang="en-US" b="1"/>
              <a:t>핵심 과정 </a:t>
            </a:r>
            <a:r>
              <a:rPr lang="en-US" altLang="ko-KR" b="1"/>
              <a:t>:</a:t>
            </a:r>
            <a:r>
              <a:rPr lang="ko-KR" altLang="en-US"/>
              <a:t> 컴퓨터 아키텍처 및 논리 설계</a:t>
            </a:r>
            <a:r>
              <a:rPr lang="en-US" altLang="ko-KR"/>
              <a:t>, </a:t>
            </a:r>
            <a:r>
              <a:rPr lang="ko-KR" altLang="en-US"/>
              <a:t>컴퓨터 과학</a:t>
            </a:r>
            <a:r>
              <a:rPr lang="en-US" altLang="ko-KR"/>
              <a:t>, </a:t>
            </a:r>
            <a:r>
              <a:rPr lang="ko-KR" altLang="en-US"/>
              <a:t>고급 수학</a:t>
            </a:r>
            <a:r>
              <a:rPr lang="en-US" altLang="ko-KR"/>
              <a:t>, </a:t>
            </a:r>
            <a:r>
              <a:rPr lang="ko-KR" altLang="en-US"/>
              <a:t>전기 공학 기반</a:t>
            </a:r>
            <a:r>
              <a:rPr lang="en-US" altLang="ko-KR"/>
              <a:t>, </a:t>
            </a:r>
            <a:r>
              <a:rPr lang="ko-KR" altLang="en-US"/>
              <a:t>인공 지능 </a:t>
            </a:r>
            <a:r>
              <a:rPr lang="en-US" altLang="ko-KR"/>
              <a:t>.</a:t>
            </a:r>
            <a:br>
              <a:rPr lang="ko-KR" altLang="en-US"/>
            </a:br>
            <a:endParaRPr lang="en-US" altLang="ko-KR"/>
          </a:p>
          <a:p>
            <a:r>
              <a:rPr lang="ko-KR" altLang="en-US" b="1"/>
              <a:t>중점 분야</a:t>
            </a:r>
            <a:r>
              <a:rPr lang="ko-KR" altLang="en-US"/>
              <a:t> </a:t>
            </a:r>
            <a:r>
              <a:rPr lang="en-US" altLang="ko-KR"/>
              <a:t>: </a:t>
            </a:r>
            <a:r>
              <a:rPr lang="ko-KR" altLang="en-US"/>
              <a:t>머신 러닝</a:t>
            </a:r>
            <a:r>
              <a:rPr lang="en-US" altLang="ko-KR"/>
              <a:t>, </a:t>
            </a:r>
            <a:r>
              <a:rPr lang="ko-KR" altLang="en-US"/>
              <a:t>인공 지능</a:t>
            </a:r>
            <a:r>
              <a:rPr lang="en-US" altLang="ko-KR"/>
              <a:t>, NLP, </a:t>
            </a:r>
            <a:r>
              <a:rPr lang="ko-KR" altLang="en-US"/>
              <a:t>컴퓨터 비전</a:t>
            </a:r>
            <a:r>
              <a:rPr lang="en-US" altLang="ko-KR"/>
              <a:t>, </a:t>
            </a:r>
            <a:r>
              <a:rPr lang="ko-KR" altLang="en-US"/>
              <a:t>딥 러닝</a:t>
            </a:r>
            <a:r>
              <a:rPr lang="en-US" altLang="ko-KR"/>
              <a:t>, </a:t>
            </a:r>
            <a:r>
              <a:rPr lang="ko-KR" altLang="en-US"/>
              <a:t>데이터 마이닝</a:t>
            </a:r>
            <a:r>
              <a:rPr lang="en-US" altLang="ko-KR"/>
              <a:t>, </a:t>
            </a:r>
            <a:r>
              <a:rPr lang="ko-KR" altLang="en-US"/>
              <a:t>웹 및 정보 검색 등</a:t>
            </a:r>
          </a:p>
        </p:txBody>
      </p:sp>
    </p:spTree>
    <p:extLst>
      <p:ext uri="{BB962C8B-B14F-4D97-AF65-F5344CB8AC3E}">
        <p14:creationId xmlns:p14="http://schemas.microsoft.com/office/powerpoint/2010/main" val="684361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8259617-AD67-4EAE-9E02-CA99BF0E9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2125"/>
            <a:ext cx="7305675" cy="22955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970C0C0-C5B7-4F62-8795-3FA5A8E39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975" y="4057650"/>
            <a:ext cx="8963025" cy="280034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02264BA-9047-4AD0-A5C9-73D958442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0" y="0"/>
            <a:ext cx="88963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14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134FE42-C605-4E01-80D1-695420508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0" y="1"/>
            <a:ext cx="9086850" cy="260032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9B00205-7529-4130-8674-4D7F44BAA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0324"/>
            <a:ext cx="7315200" cy="188246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E7E07D-94DD-4735-B5AD-8B5715EC2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950" y="4482789"/>
            <a:ext cx="9163050" cy="237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90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9415EA-CA72-45D6-AA6E-8A380C3B65A8}"/>
              </a:ext>
            </a:extLst>
          </p:cNvPr>
          <p:cNvSpPr txBox="1"/>
          <p:nvPr/>
        </p:nvSpPr>
        <p:spPr>
          <a:xfrm>
            <a:off x="5898994" y="3244334"/>
            <a:ext cx="646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fin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944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305</Words>
  <Application>Microsoft Office PowerPoint</Application>
  <PresentationFormat>와이드스크린</PresentationFormat>
  <Paragraphs>97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구 명회</dc:creator>
  <cp:lastModifiedBy>구 명회</cp:lastModifiedBy>
  <cp:revision>49</cp:revision>
  <dcterms:created xsi:type="dcterms:W3CDTF">2019-10-01T14:12:31Z</dcterms:created>
  <dcterms:modified xsi:type="dcterms:W3CDTF">2019-10-01T17:17:43Z</dcterms:modified>
</cp:coreProperties>
</file>